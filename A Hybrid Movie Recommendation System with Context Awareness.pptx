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40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36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80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554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40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01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4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578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08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330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29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2F45-E928-49B7-A497-514B976616C8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0B9B9B4-9086-4082-BD3F-34D18634A14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42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0FEE-794F-46F9-9FAC-65C2223EC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904" y="887569"/>
            <a:ext cx="10323332" cy="2541431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Movie Recommendation System with Context Awareness and Diversity Optimization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312AD-435C-4DA0-86A8-C0C91DFCB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0982" y="3531204"/>
            <a:ext cx="8633869" cy="2242579"/>
          </a:xfrm>
        </p:spPr>
        <p:txBody>
          <a:bodyPr>
            <a:normAutofit/>
          </a:bodyPr>
          <a:lstStyle/>
          <a:p>
            <a:r>
              <a:rPr lang="en-US" sz="2000" b="1" dirty="0"/>
              <a:t>BY </a:t>
            </a:r>
            <a:br>
              <a:rPr lang="en-US" sz="2000" b="1" dirty="0"/>
            </a:br>
            <a:r>
              <a:rPr lang="en-US" sz="2000" b="1" dirty="0"/>
              <a:t>S Kartik Iyer M25CSA025</a:t>
            </a:r>
            <a:br>
              <a:rPr lang="en-US" sz="2000" b="1" dirty="0"/>
            </a:br>
            <a:r>
              <a:rPr lang="en-US" sz="2000" b="1" dirty="0"/>
              <a:t>Ravi </a:t>
            </a:r>
            <a:r>
              <a:rPr lang="en-US" sz="2000" b="1" dirty="0" err="1"/>
              <a:t>sharma</a:t>
            </a:r>
            <a:r>
              <a:rPr lang="en-US" sz="2000" b="1" dirty="0"/>
              <a:t> m25csa024</a:t>
            </a:r>
            <a:br>
              <a:rPr lang="en-US" sz="2000" b="1" dirty="0"/>
            </a:br>
            <a:r>
              <a:rPr lang="en-US" sz="2000" b="1" dirty="0"/>
              <a:t>Satyam pal m25csa026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5202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A2B3-BFDB-4F8F-8F3B-11A04F3D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12E46B-FEA7-4C51-9C06-38D4BAEDC7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571218"/>
            <a:ext cx="9381884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b="1" dirty="0"/>
              <a:t>Weighted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movie recommendation system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Content-Based Filtering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Collaborative Filtering (ALS)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awareness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Mood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Time-of-day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diversity-aware re-ranking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avoids repetitive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Spark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processing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model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17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AA67-95BB-496A-87F1-E812B877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0DD417-4D82-46EB-9347-E3850DB843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571213"/>
            <a:ext cx="9587881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systems have been extensively studied for personalized content delivery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Content-Based Filtering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Recommends items based on feature similarity (e.g., genres, metadata)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Collaborative Filtering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user–item interaction data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 applies matrix factorization techniques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Approaches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both methods to overcome key challenges: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Cold-start problem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sparsity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diversity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 Models (EASE-R, RP3Beta)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scalability and efficiency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Still struggle with balancing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diversity, and computational cost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896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596B-7988-4343-BF32-FA4EADDA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model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1031BE-C589-43A0-B342-BF34B3750F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27442"/>
            <a:ext cx="900741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Recommendation Framework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Content-Based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Collaborative Filtering (ALS)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Weighted scoring mechanism to balance both approaches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Content-Based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movie features (genres, metadata)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Recommends similar items based on user preferences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Collaborative Filtering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 user–item interaction patterns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 (Matrix Factorization)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scalable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578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2DDE3-A463-4F4B-9FCE-F663084D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0C438A-1674-445E-9B05-B82067BA09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916808"/>
            <a:ext cx="899870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Context-Aware Layer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time-of-day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Adapts recommendations to user situation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Diversity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Re-ranking mechanism to reduce repetitive genres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varied and engaging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Personalization &amp; Real-Time Updates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user history and interactions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 refines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Architecture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using </a:t>
            </a:r>
            <a:r>
              <a:rPr lang="en-US" altLang="en-US" sz="2000" b="1" dirty="0" err="1">
                <a:latin typeface="Arial" panose="020B0604020202020204" pitchFamily="34" charset="0"/>
              </a:rPr>
              <a:t>pys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large-scale data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043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5865-35EA-4D66-BC93-EC5CDC9C8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7D3C1B-CC9C-4A18-9767-881A6E790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155993"/>
            <a:ext cx="1068433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handle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 datasets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(millions of user ratings &amp; movies)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PySpark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data processing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data across multiple nodes for faster computation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Collaborative Filtering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 (Alternating Least Squares)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Spark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MLlib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Efficiently trains on large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02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9F17-D637-41CE-917F-9A3A9CEF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7233FD-CAD5-4727-8E31-2711D5CE6C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1965115"/>
            <a:ext cx="9603275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Distributed Data Processing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Data partitioning and parallel computation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Faster aggregation and feature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+ disk persistence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Adaptive query execution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resource utilization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computation time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scalability and system stability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375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E3D90-1283-449E-B189-285544FA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56B1DC-A7BD-42FF-A38F-F9956552C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EF494D-0100-4750-BDD1-F8586184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8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FD0A-EC1B-457A-9DBD-CB37AAE3F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and profile management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BB73DE-8574-47B2-A280-7C7A8F7AF8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1939947"/>
            <a:ext cx="946026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Web Interface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user-friendly design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seamless interaction with the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Types Supported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Users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Select preferred genres &amp; liked movies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Users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Get recommendations based on history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 selection via dropdown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 and mood-based filtering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recommendation display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Previously watched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610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639C-B75E-43EA-ABFD-BDF2EFAF5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84AA66-94F5-4498-A269-F20E870EF9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925208"/>
            <a:ext cx="8563278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Profile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ID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Liked movies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Preferred genres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Watch history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explicit preferences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(genres, likes)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implicit behavior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(clicks, watch history)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Updates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Profiles updated dynamically with user interactions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 improves recommendation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Cold-Start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stored preferences for returning users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recommendations even without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72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BF8E6-F7E5-4CC1-B7AA-C7247707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06115D-22DA-4199-9E69-18BE8CD8A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9575"/>
            <a:ext cx="12191999" cy="612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539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DED6-6471-4DCD-AE39-829988F3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286367-3514-4948-B9A1-77B847E1E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-8709"/>
            <a:ext cx="9603275" cy="619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8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8DF6-1AE5-4B7D-867B-F168CB13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4945D5-21EF-4C63-AF4D-756C49D7A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790"/>
            <a:ext cx="5457524" cy="6156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1A06A5-1AC7-4C47-9028-050D4BB21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665" y="0"/>
            <a:ext cx="5763189" cy="608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12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C9C4-1DBE-48EE-B92B-D14F6456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0F7183-D479-40F5-96C9-B57BD2C254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680336"/>
            <a:ext cx="84326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Precision@10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Relevance of top-10 recommended movies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Recall@10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Ability to retrieve relevant items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NDCG@10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Ranking quality of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 Coverage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Measures diversity of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073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F872-4542-481D-B59F-A14E2BE4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C86EE6-CE8F-4D6D-B3E7-43CC135A9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462" y="637125"/>
            <a:ext cx="11663076" cy="10751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95A171-7E7F-4F88-9B1A-A2840E351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62" y="1853754"/>
            <a:ext cx="5683492" cy="4262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728715-0D27-4965-9DF5-CE0EBB621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538" y="1853755"/>
            <a:ext cx="5718000" cy="428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16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B5EF-AB81-45F4-9949-E8795CDD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Enhancements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F84AF8-8719-4961-84F5-BBF7522FF6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48377"/>
            <a:ext cx="71641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Recommendation Quality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Stronger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liked genres, liked movies, and watch history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scoring using: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Top-3 liked movie similarity (focus)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liked-list average (coverage)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Cold-Start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liked movies/genres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1–2 inputs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single-movie dominance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848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7023-37E9-430A-80CF-77B09DA6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6AD81F-F3FD-44DC-A751-7D09DFD5CC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48761"/>
            <a:ext cx="8450067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Diversity &amp; Personalization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genre list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(exclude unwanted genres)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recommendations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Top-15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highly-rated movies (“You may also like”)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recommendation tagged with: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Genre-based reasoning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Liked-movie similarity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explanation mix (not fixed patterns)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ALS-Based Collaborative Filtering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scalability and recommendation strength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590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A950-0717-413D-8C4A-71C43F5F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 &amp; User Experience Improvements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86B58F-C8BA-4FAE-B947-832FF18474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53754"/>
            <a:ext cx="9408010" cy="4199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Cleaner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Merged genre selection options (simpler UI)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bar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selecting liked movies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Controls &amp; Interaction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Watch Again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option for history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Watch Later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playlist feature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Liked movies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rewatch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User Profile Tracking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Watch time → enables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time-based recommendations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count → identifies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favorite movies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Section	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Favorite movies (most clicked)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Watch later playlist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previous watch history display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666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BDC00-713E-47FB-80CA-1569DFAA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personalized scoring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571DC-14EB-4041-A9F3-0FF5BB4B3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USER:</a:t>
            </a:r>
          </a:p>
          <a:p>
            <a:pPr lvl="1"/>
            <a:r>
              <a:rPr lang="en-US" dirty="0"/>
              <a:t>.50 genre+</a:t>
            </a:r>
          </a:p>
          <a:p>
            <a:pPr lvl="1"/>
            <a:r>
              <a:rPr lang="en-US" dirty="0"/>
              <a:t>0.30 similarity with liked movies + ###(.70 top 3 movies +0.30 overall)</a:t>
            </a:r>
          </a:p>
          <a:p>
            <a:pPr lvl="1"/>
            <a:r>
              <a:rPr lang="en-US" dirty="0"/>
              <a:t>0.15 popularity +</a:t>
            </a:r>
          </a:p>
          <a:p>
            <a:pPr lvl="1"/>
            <a:r>
              <a:rPr lang="en-US" dirty="0"/>
              <a:t>0.5 mood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7854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752F-397E-428A-8846-487C33DF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C3E55-835A-46FD-B088-C6273824D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EXISTING USER :</a:t>
            </a:r>
          </a:p>
          <a:p>
            <a:pPr marL="0" indent="0">
              <a:buNone/>
            </a:pPr>
            <a:r>
              <a:rPr lang="en-US" dirty="0"/>
              <a:t>	0.45 recent history +</a:t>
            </a:r>
          </a:p>
          <a:p>
            <a:pPr marL="0" indent="0">
              <a:buNone/>
            </a:pPr>
            <a:r>
              <a:rPr lang="en-US" dirty="0"/>
              <a:t>	0.35 genre match +</a:t>
            </a:r>
          </a:p>
          <a:p>
            <a:pPr marL="0" indent="0">
              <a:buNone/>
            </a:pPr>
            <a:r>
              <a:rPr lang="en-US" dirty="0"/>
              <a:t>	0.15 popularity +</a:t>
            </a:r>
          </a:p>
          <a:p>
            <a:pPr marL="0" indent="0">
              <a:buNone/>
            </a:pPr>
            <a:r>
              <a:rPr lang="en-US" dirty="0"/>
              <a:t>	0.5 mood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342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DF6A-EDA0-4546-BD4D-A525DE72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0A969-3937-4CF0-8A33-9F2FD803B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UI APPLICATION :</a:t>
            </a:r>
          </a:p>
          <a:p>
            <a:pPr lvl="1"/>
            <a:r>
              <a:rPr lang="en-US" dirty="0"/>
              <a:t>0.65 default +</a:t>
            </a:r>
          </a:p>
          <a:p>
            <a:pPr lvl="1"/>
            <a:r>
              <a:rPr lang="en-US" dirty="0"/>
              <a:t>0.35 ALS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diversity penalty : </a:t>
            </a:r>
            <a:br>
              <a:rPr lang="en-US" dirty="0"/>
            </a:br>
            <a:r>
              <a:rPr lang="en-US" dirty="0"/>
              <a:t>	adjusted score = score - </a:t>
            </a:r>
            <a:r>
              <a:rPr lang="el-GR" dirty="0"/>
              <a:t> λ</a:t>
            </a:r>
            <a:r>
              <a:rPr lang="en-US" dirty="0"/>
              <a:t>*(genre frequency)</a:t>
            </a:r>
          </a:p>
          <a:p>
            <a:r>
              <a:rPr lang="en-US" dirty="0"/>
              <a:t>Final Score + 0.2 bonus  (introducing the temporal + mood component)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7106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83285-243E-4448-86DE-9DF680FE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314" name="Picture 2" descr="Thank you Images - Free Download on Freepik">
            <a:extLst>
              <a:ext uri="{FF2B5EF4-FFF2-40B4-BE49-F238E27FC236}">
                <a16:creationId xmlns:a16="http://schemas.microsoft.com/office/drawing/2014/main" id="{8E8D7EFD-19D3-4A36-8587-0B71139D45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13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348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119</TotalTime>
  <Words>747</Words>
  <Application>Microsoft Office PowerPoint</Application>
  <PresentationFormat>Widescreen</PresentationFormat>
  <Paragraphs>159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Gill Sans MT</vt:lpstr>
      <vt:lpstr>Times New Roman</vt:lpstr>
      <vt:lpstr>Gallery</vt:lpstr>
      <vt:lpstr>A Hybrid Movie Recommendation System with Context Awareness and Diversity Optimization  </vt:lpstr>
      <vt:lpstr>Introduction </vt:lpstr>
      <vt:lpstr>Related work</vt:lpstr>
      <vt:lpstr>Proposed model</vt:lpstr>
      <vt:lpstr>PowerPoint Presentation</vt:lpstr>
      <vt:lpstr>PowerPoint Presentation</vt:lpstr>
      <vt:lpstr>PowerPoint Presentation</vt:lpstr>
      <vt:lpstr>PowerPoint Presentation</vt:lpstr>
      <vt:lpstr>User interface and profile management</vt:lpstr>
      <vt:lpstr>PowerPoint Presentation</vt:lpstr>
      <vt:lpstr>PowerPoint Presentation</vt:lpstr>
      <vt:lpstr>PowerPoint Presentation</vt:lpstr>
      <vt:lpstr>PowerPoint Presentation</vt:lpstr>
      <vt:lpstr>Evaluation </vt:lpstr>
      <vt:lpstr>PowerPoint Presentation</vt:lpstr>
      <vt:lpstr>System Enhancements</vt:lpstr>
      <vt:lpstr>PowerPoint Presentation</vt:lpstr>
      <vt:lpstr>UI &amp; User Experience Improvements</vt:lpstr>
      <vt:lpstr>User personalized scoring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Movie Recommendation System with Context Awareness and Diversity Optimization</dc:title>
  <dc:creator>S Kartik Iyer (M25CSA025)</dc:creator>
  <cp:lastModifiedBy>S Kartik Iyer (M25CSA025)</cp:lastModifiedBy>
  <cp:revision>15</cp:revision>
  <dcterms:created xsi:type="dcterms:W3CDTF">2026-04-27T04:30:19Z</dcterms:created>
  <dcterms:modified xsi:type="dcterms:W3CDTF">2026-04-27T07:13:50Z</dcterms:modified>
</cp:coreProperties>
</file>